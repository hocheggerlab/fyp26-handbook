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3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8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9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0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1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2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3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4.xml"/><Relationship Id="rId3" Type="http://schemas.openxmlformats.org/officeDocument/2006/relationships/hyperlink" Target="https://www.zotero.org/groups/6702274" TargetMode="Externa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5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6.xml"/><Relationship Id="rId3" Type="http://schemas.openxmlformats.org/officeDocument/2006/relationships/hyperlink" Target="https://doi.org/10.1038/s41467-020-19532-z" TargetMode="External"/><Relationship Id="rId4" Type="http://schemas.openxmlformats.org/officeDocument/2006/relationships/hyperlink" Target="https://doi.org/10.1038/s41589-018-0021-8" TargetMode="External"/><Relationship Id="rId5" Type="http://schemas.openxmlformats.org/officeDocument/2006/relationships/hyperlink" Target="https://doi.org/10.1038/nchembio.1869" TargetMode="External"/><Relationship Id="rId6" Type="http://schemas.openxmlformats.org/officeDocument/2006/relationships/hyperlink" Target="https://doi.org/10.1021/acs.jmedchem.1c01532" TargetMode="Externa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7.xml"/><Relationship Id="rId3" Type="http://schemas.openxmlformats.org/officeDocument/2006/relationships/hyperlink" Target="https://doi.org/10.1038/s41467-022-33246-4" TargetMode="External"/><Relationship Id="rId4" Type="http://schemas.openxmlformats.org/officeDocument/2006/relationships/hyperlink" Target="https://doi.org/10.1126/science.1225829" TargetMode="External"/><Relationship Id="rId5" Type="http://schemas.openxmlformats.org/officeDocument/2006/relationships/hyperlink" Target="https://doi.org/10.1038/s41586-021-03819-2" TargetMode="External"/><Relationship Id="rId6" Type="http://schemas.openxmlformats.org/officeDocument/2006/relationships/hyperlink" Target="https://doi.org/10.1093/nar/gkac1052" TargetMode="Externa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8.xml"/><Relationship Id="rId3" Type="http://schemas.openxmlformats.org/officeDocument/2006/relationships/hyperlink" Target="https://doi.org/10.1038/s41589-018-0021-8" TargetMode="External"/><Relationship Id="rId4" Type="http://schemas.openxmlformats.org/officeDocument/2006/relationships/hyperlink" Target="https://doi.org/10.1007/978-1-0716-1904-9_14" TargetMode="External"/><Relationship Id="rId5" Type="http://schemas.openxmlformats.org/officeDocument/2006/relationships/hyperlink" Target="https://doi.org/10.1126/science.1258096" TargetMode="External"/><Relationship Id="rId6" Type="http://schemas.openxmlformats.org/officeDocument/2006/relationships/hyperlink" Target="https://doi.org/10.1073/pnas.2302471120" TargetMode="Externa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9.xml"/><Relationship Id="rId3" Type="http://schemas.openxmlformats.org/officeDocument/2006/relationships/hyperlink" Target="https://doi.org/10.1016/j.cell.2026.08.052" TargetMode="External"/><Relationship Id="rId4" Type="http://schemas.openxmlformats.org/officeDocument/2006/relationships/hyperlink" Target="https://doi.org/10.64898/2026.04.06.716850" TargetMode="External"/><Relationship Id="rId5" Type="http://schemas.openxmlformats.org/officeDocument/2006/relationships/hyperlink" Target="https://doi.org/10.48550/arXiv.2407.01502" TargetMode="External"/><Relationship Id="rId6" Type="http://schemas.openxmlformats.org/officeDocument/2006/relationships/hyperlink" Target="https://doi.org/10.48550/arXiv.2408.09667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FYP26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1188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Designing degron-tagging experiments</a:t>
            </a:r>
          </a:p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with AI agents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2468880"/>
            <a:ext cx="9966960" cy="7772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000" b="0">
                <a:solidFill>
                  <a:srgbClr val="35666B"/>
                </a:solidFill>
                <a:latin typeface="Arial"/>
              </a:defRPr>
            </a:pPr>
            <a:r>
              <a:t>Can an agent make a design we can defend?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" y="3977639"/>
            <a:ext cx="3429000" cy="102412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Choose a protein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5148072"/>
            <a:ext cx="34290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27078"/>
                </a:solidFill>
                <a:latin typeface="Arial"/>
              </a:defRPr>
            </a:pPr>
            <a:r>
              <a:t>Define the biological question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370832" y="3977639"/>
            <a:ext cx="3429000" cy="102412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Design the tag insertion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370832" y="5148072"/>
            <a:ext cx="34290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27078"/>
                </a:solidFill>
                <a:latin typeface="Arial"/>
              </a:defRPr>
            </a:pPr>
            <a:r>
              <a:t>Explain each decision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101583" y="3977639"/>
            <a:ext cx="3429000" cy="102412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Test the agent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01583" y="5148072"/>
            <a:ext cx="342900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27078"/>
                </a:solidFill>
                <a:latin typeface="Arial"/>
              </a:defRPr>
            </a:pPr>
            <a:r>
              <a:t>Check evidence and design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Two questions before we begin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What is a degron tag?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 genetically encoded handle that lets us control the abundance of a chosen protein.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What is an AI agent?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 model that can choose tools, inspect their results and decide what to do next.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Our task: find out whether the agent’s decisions survive scientific checking.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Why remove a protein rather than its gene?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22860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2066543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Perturbation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01952"/>
            <a:ext cx="36576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011680"/>
            <a:ext cx="3438144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What changes?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01952"/>
            <a:ext cx="5056632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011680"/>
            <a:ext cx="4837176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Main limitation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2286000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32888"/>
            <a:ext cx="2066543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Gene knockout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404872"/>
            <a:ext cx="3657600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32888"/>
            <a:ext cx="3438144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DNA sequence / gene function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404872"/>
            <a:ext cx="5056632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32888"/>
            <a:ext cx="4837176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Permanent loss; essential-gene lethality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099815"/>
            <a:ext cx="2286000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227832"/>
            <a:ext cx="2066543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RNA depletion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099815"/>
            <a:ext cx="3657600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227832"/>
            <a:ext cx="3438144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Production of new protein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099815"/>
            <a:ext cx="5056632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227832"/>
            <a:ext cx="4837176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Existing protein must turn over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794760"/>
            <a:ext cx="2286000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22776"/>
            <a:ext cx="2066543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Protein inhibition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3794760"/>
            <a:ext cx="3657600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0088" y="3922776"/>
            <a:ext cx="3438144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 molecular activity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794760"/>
            <a:ext cx="5056632" cy="694944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3922776"/>
            <a:ext cx="4837176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Needs an appropriate inhibitor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489704"/>
            <a:ext cx="2286000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617720"/>
            <a:ext cx="2066543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Inducible degradation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4489704"/>
            <a:ext cx="3657600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0088" y="4617720"/>
            <a:ext cx="3438144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Protein abundance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489704"/>
            <a:ext cx="5056632" cy="694944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617720"/>
            <a:ext cx="4837176" cy="55778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Requires a working degradation system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Conditional depletion lets us ask what happens soon after protein loss.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An inducible tag links a protein to its destruction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Nabet et al., 2018; Yesbolatova et al., 2020; Bond et al., 2021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04</a:t>
            </a:r>
          </a:p>
        </p:txBody>
      </p:sp>
      <p:sp>
        <p:nvSpPr>
          <p:cNvPr id="8" name="Rectangle 7"/>
          <p:cNvSpPr/>
          <p:nvPr/>
        </p:nvSpPr>
        <p:spPr>
          <a:xfrm>
            <a:off x="731520" y="2423160"/>
            <a:ext cx="3154680" cy="100584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Protein + tag</a:t>
            </a:r>
          </a:p>
        </p:txBody>
      </p:sp>
      <p:sp>
        <p:nvSpPr>
          <p:cNvPr id="9" name="Rectangle 8"/>
          <p:cNvSpPr/>
          <p:nvPr/>
        </p:nvSpPr>
        <p:spPr>
          <a:xfrm>
            <a:off x="4480560" y="2423160"/>
            <a:ext cx="3154680" cy="100584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E3 recruited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423160"/>
            <a:ext cx="3154680" cy="100584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Proteasome</a:t>
            </a:r>
          </a:p>
        </p:txBody>
      </p:sp>
      <p:sp>
        <p:nvSpPr>
          <p:cNvPr id="11" name="Right Arrow 10"/>
          <p:cNvSpPr/>
          <p:nvPr/>
        </p:nvSpPr>
        <p:spPr>
          <a:xfrm>
            <a:off x="3977639" y="2779776"/>
            <a:ext cx="411480" cy="228600"/>
          </a:xfrm>
          <a:prstGeom prst="rightArrow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ight Arrow 11"/>
          <p:cNvSpPr/>
          <p:nvPr/>
        </p:nvSpPr>
        <p:spPr>
          <a:xfrm>
            <a:off x="7726679" y="2779776"/>
            <a:ext cx="411480" cy="228600"/>
          </a:xfrm>
          <a:prstGeom prst="rightArrow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80560" y="1847088"/>
            <a:ext cx="32004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Add trigger molecule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22191"/>
            <a:ext cx="315468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 tag is encoded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in the target gene.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480560" y="3822191"/>
            <a:ext cx="315468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Ubiquitin marks the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protein for degradation.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0" y="3822191"/>
            <a:ext cx="3154680" cy="10058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Protein is degraded;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 gene remains.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The trigger acts on the engineered protein—not by deleting the gene.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Four systems, different molecular handles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Yesbolatova 2020, PMID 33177522; Nabet 2018, 29581585; Bond 2021, 34652918; Chung 2015, 26214256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05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92024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1700784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System</a:t>
            </a:r>
          </a:p>
        </p:txBody>
      </p:sp>
      <p:sp>
        <p:nvSpPr>
          <p:cNvPr id="10" name="Rectangle 9"/>
          <p:cNvSpPr/>
          <p:nvPr/>
        </p:nvSpPr>
        <p:spPr>
          <a:xfrm>
            <a:off x="2514600" y="1901952"/>
            <a:ext cx="402336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624328" y="2011680"/>
            <a:ext cx="3803904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Encoded handle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537960" y="1901952"/>
            <a:ext cx="5056632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647688" y="2011680"/>
            <a:ext cx="4837176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Trigger / mechanism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192024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32888"/>
            <a:ext cx="170078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AID / AID2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514600" y="2404872"/>
            <a:ext cx="402336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624328" y="2532888"/>
            <a:ext cx="380390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Auxin degron + TIR1 receptor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537960" y="2404872"/>
            <a:ext cx="505663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647688" y="2532888"/>
            <a:ext cx="483717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Auxin / 5-Ph-IAA → E3 recruitment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18104"/>
            <a:ext cx="192024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246120"/>
            <a:ext cx="170078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dTAG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514600" y="3118104"/>
            <a:ext cx="402336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624328" y="3246120"/>
            <a:ext cx="380390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FKBP12(F36V)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537960" y="3118104"/>
            <a:ext cx="505663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647688" y="3246120"/>
            <a:ext cx="483717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dTAG compound → CRBN or VHL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831335"/>
            <a:ext cx="192024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59351"/>
            <a:ext cx="170078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BromoTag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514600" y="3831335"/>
            <a:ext cx="402336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624328" y="3959351"/>
            <a:ext cx="380390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Mutant bromodomain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537960" y="3831335"/>
            <a:ext cx="505663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647688" y="3959351"/>
            <a:ext cx="483717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Bumped PROTAC → VHL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544568"/>
            <a:ext cx="192024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672583"/>
            <a:ext cx="170078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SMASh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514600" y="4544568"/>
            <a:ext cx="402336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624328" y="4672583"/>
            <a:ext cx="380390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Self-cleaving protease–degron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537960" y="4544568"/>
            <a:ext cx="505663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647688" y="4672583"/>
            <a:ext cx="483717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Protease inhibitor → tag retained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The tag, trigger and cellular machinery must be compatible.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SMASh mainly shuts off new protein production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Chung et al., 2015. doi:10.1038/nchembio.1869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06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Without inhibitor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New protein–SMASh fusion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Tag cleaves itself off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Protein accumulates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With inhibitor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New protein–SMASh fusion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Tag remains attached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↓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New protein is degraded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Existing, already-cleaved protein remains until it turns over.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The value is control over time—not guaranteed success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Bondeson et al., 2022. doi:10.1038/s41467-022-33246-4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What it enables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Study essential proteins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Separate early and late effects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Test catalytic and scaffold roles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What must be checked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Function before induction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Depletion rate and depth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Recovery and drug effects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tag can disturb the protein before any trigger is added.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DEGRON BIOLOGY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chemical degrader and a degron tag are not the same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Target-directed degrader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Binds the native protein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Usually no target-gene edit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Requires suitable binding chemistry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Engineered tag system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Binds an introduced handle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We edit the endogenous locus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Requires a functional fusion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dTAG and BromoTag use both genetic engineering and chemical degraders.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GENE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Endogenous tagging changes what the cell makes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09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35666B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920240"/>
            <a:ext cx="5029200" cy="61264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Protein-coding sequence</a:t>
            </a:r>
          </a:p>
        </p:txBody>
      </p:sp>
      <p:sp>
        <p:nvSpPr>
          <p:cNvPr id="10" name="Rectangle 9"/>
          <p:cNvSpPr/>
          <p:nvPr/>
        </p:nvSpPr>
        <p:spPr>
          <a:xfrm>
            <a:off x="7818120" y="1920240"/>
            <a:ext cx="1005840" cy="612648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700">
                <a:solidFill>
                  <a:srgbClr val="222C33"/>
                </a:solidFill>
                <a:latin typeface="Arial"/>
              </a:defRPr>
            </a:pPr>
            <a:r>
              <a:t>STOP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27248"/>
            <a:ext cx="18288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1">
                <a:solidFill>
                  <a:srgbClr val="35666B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743200" y="3063240"/>
            <a:ext cx="4480560" cy="61264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Protein-coding sequence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269480" y="3063240"/>
            <a:ext cx="594360" cy="612648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700">
                <a:solidFill>
                  <a:srgbClr val="222C33"/>
                </a:solidFill>
                <a:latin typeface="Arial"/>
              </a:defRPr>
            </a:pPr>
            <a:r>
              <a:t>L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909560" y="3063240"/>
            <a:ext cx="1828800" cy="612648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t>Tag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784080" y="3063240"/>
            <a:ext cx="1005840" cy="612648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700">
                <a:solidFill>
                  <a:srgbClr val="222C33"/>
                </a:solidFill>
                <a:latin typeface="Arial"/>
              </a:defRPr>
            </a:pPr>
            <a:r>
              <a:t>STOP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43200" y="4160520"/>
            <a:ext cx="7955279" cy="9601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The original stop is replaced or repositioned.</a:t>
            </a:r>
          </a:p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The fusion must remain one continuous reading frame.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Add DNA to the locus → make a protein–tag fusion.  L = linker.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GENE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Gene targeting uses matching DNA to place an edit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148840"/>
            <a:ext cx="20116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5666B"/>
                </a:solidFill>
                <a:latin typeface="Arial"/>
              </a:defRPr>
            </a:pPr>
            <a:r>
              <a:t>Genome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291840"/>
            <a:ext cx="20116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5666B"/>
                </a:solidFill>
                <a:latin typeface="Arial"/>
              </a:defRPr>
            </a:pPr>
            <a:r>
              <a:t>Donor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4434840"/>
            <a:ext cx="20116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1">
                <a:solidFill>
                  <a:srgbClr val="35666B"/>
                </a:solidFill>
                <a:latin typeface="Arial"/>
              </a:defRPr>
            </a:pPr>
            <a:r>
              <a:t>Intended edit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743200" y="2057400"/>
            <a:ext cx="274320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Left genomic region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532120" y="2057400"/>
            <a:ext cx="1828800" cy="64008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Edit site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406640" y="2057400"/>
            <a:ext cx="347472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Right genomic region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2743200" y="3200400"/>
            <a:ext cx="274320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Left homology arm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532120" y="3200400"/>
            <a:ext cx="1828800" cy="64008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t>Tag DNA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06640" y="3200400"/>
            <a:ext cx="347472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Right homology arm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43200" y="4343400"/>
            <a:ext cx="274320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Left genomic region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532120" y="4343400"/>
            <a:ext cx="1828800" cy="64008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t>Tag DNA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406640" y="4343400"/>
            <a:ext cx="3474720" cy="64008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Right genomic region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The donor specifies the change; homology connects it to the correct locus.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GENE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CRISPR supplies a programmable cut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Jinek et al., 2012. doi:10.1126/science.1225829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11</a:t>
            </a:r>
          </a:p>
        </p:txBody>
      </p:sp>
      <p:sp>
        <p:nvSpPr>
          <p:cNvPr id="8" name="Rectangle 7"/>
          <p:cNvSpPr/>
          <p:nvPr/>
        </p:nvSpPr>
        <p:spPr>
          <a:xfrm>
            <a:off x="1005840" y="2423160"/>
            <a:ext cx="6675120" cy="68580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400">
                <a:solidFill>
                  <a:srgbClr val="222C33"/>
                </a:solidFill>
                <a:latin typeface="Arial"/>
              </a:defRPr>
            </a:pPr>
            <a:r>
              <a:t>Genomic target sequence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0" y="2423160"/>
            <a:ext cx="1463040" cy="68580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200">
                <a:solidFill>
                  <a:srgbClr val="FFFFFF"/>
                </a:solidFill>
                <a:latin typeface="Arial"/>
              </a:defRPr>
            </a:pPr>
            <a:r>
              <a:t>PAM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005840" y="3246120"/>
            <a:ext cx="8229600" cy="0"/>
          </a:xfrm>
          <a:prstGeom prst="line">
            <a:avLst/>
          </a:prstGeom>
          <a:ln w="25400">
            <a:solidFill>
              <a:srgbClr val="222C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ectangle 10"/>
          <p:cNvSpPr/>
          <p:nvPr/>
        </p:nvSpPr>
        <p:spPr>
          <a:xfrm>
            <a:off x="1005840" y="3840480"/>
            <a:ext cx="6675120" cy="59436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200">
                <a:solidFill>
                  <a:srgbClr val="222C33"/>
                </a:solidFill>
                <a:latin typeface="Arial"/>
              </a:defRPr>
            </a:pPr>
            <a:r>
              <a:t>Guide RNA pairs with the target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6812280" y="2121408"/>
            <a:ext cx="0" cy="1444752"/>
          </a:xfrm>
          <a:prstGeom prst="line">
            <a:avLst/>
          </a:prstGeom>
          <a:ln w="381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6446520" y="1819656"/>
            <a:ext cx="137160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Cut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509760" y="2468880"/>
            <a:ext cx="1920240" cy="1645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000" b="0">
                <a:solidFill>
                  <a:srgbClr val="222C33"/>
                </a:solidFill>
                <a:latin typeface="Arial"/>
              </a:defRPr>
            </a:pPr>
            <a:r>
              <a:t>SpCas9:</a:t>
            </a:r>
          </a:p>
          <a:p>
            <a:pPr>
              <a:spcAft>
                <a:spcPts val="900"/>
              </a:spcAft>
              <a:defRPr sz="2000" b="0">
                <a:solidFill>
                  <a:srgbClr val="222C33"/>
                </a:solidFill>
                <a:latin typeface="Arial"/>
              </a:defRPr>
            </a:pPr>
            <a:r>
              <a:t>NGG PAM</a:t>
            </a:r>
          </a:p>
          <a:p>
            <a:pPr>
              <a:spcAft>
                <a:spcPts val="900"/>
              </a:spcAft>
              <a:defRPr sz="2000" b="0">
                <a:solidFill>
                  <a:srgbClr val="222C33"/>
                </a:solidFill>
                <a:latin typeface="Arial"/>
              </a:defRPr>
            </a:pPr>
          </a:p>
          <a:p>
            <a:pPr>
              <a:spcAft>
                <a:spcPts val="900"/>
              </a:spcAft>
              <a:defRPr sz="2000" b="0">
                <a:solidFill>
                  <a:srgbClr val="222C33"/>
                </a:solidFill>
                <a:latin typeface="Arial"/>
              </a:defRPr>
            </a:pPr>
            <a:r>
              <a:t>N = any base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guide is useful only if its cut is compatible with the planned insertion.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GENE TARGETING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DNA break has more than one possible outcome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12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End joining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Repair without the donor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Often creates indels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May disrupt untagged alleles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Donor-directed repair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Can install the intended tag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Requires sequence verification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May leave untagged copies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Check junctions, the complete edited sequence and the remaining alleles.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design is a chain of judgements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Which end?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43400" y="1847088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N- or C-terminus — and what would rule each out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542032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Is that end free?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343400" y="2542032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Modifications, processing and partners near the terminus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236976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Will it tag everything?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3236976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Isoforms ending at a different exon escape the 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931920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Where do we cut?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3931920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A guide whose cut suits the planned insertion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31520" y="4626864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What exactly goes in?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343400" y="4626864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Arms, linker, tag and stop — in one reading frame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5321808"/>
            <a:ext cx="33832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Did it work?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343400" y="5321808"/>
            <a:ext cx="704088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Junctions, alleles, expression, function, depletion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Six decisions. Each one defensible, or not — and the first constrains the rest.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Precedent: “tagged” is not the same as “worked”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14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Retrieve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Search PubMed and aliases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Read abstracts; inspect full text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Record the construct and context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Interpret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Was it endogenous tagging?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Was depletion demonstrated?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Was function preserved?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“Not reported” must remain different from “tested and failed”.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terminus can carry information the tag would hide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UniProt Consortium, 2023. doi:10.1093/nar/gkac1052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Sequence features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Terminal PTMs and processing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Signal peptides and targeting motifs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Domains near the insertion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Design judgement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Would the tag mask a required end?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Could it alter localisation?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Is the alternative terminus safer?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free terminus can be a functional requirement, not spare space.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Does the tag have room to leave the protein surface?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Jumper et al., 2021. doi:10.1038/s41586-021-03819-2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16</a:t>
            </a:r>
          </a:p>
        </p:txBody>
      </p:sp>
      <p:sp>
        <p:nvSpPr>
          <p:cNvPr id="8" name="Oval 7"/>
          <p:cNvSpPr/>
          <p:nvPr/>
        </p:nvSpPr>
        <p:spPr>
          <a:xfrm>
            <a:off x="914400" y="2423160"/>
            <a:ext cx="2743200" cy="2011680"/>
          </a:xfrm>
          <a:prstGeom prst="ellipse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300">
                <a:solidFill>
                  <a:srgbClr val="222C33"/>
                </a:solidFill>
                <a:latin typeface="Arial"/>
              </a:defRPr>
            </a:pPr>
            <a:r>
              <a:t>Target</a:t>
            </a:r>
          </a:p>
        </p:txBody>
      </p:sp>
      <p:sp>
        <p:nvSpPr>
          <p:cNvPr id="9" name="Oval 8"/>
          <p:cNvSpPr/>
          <p:nvPr/>
        </p:nvSpPr>
        <p:spPr>
          <a:xfrm>
            <a:off x="3063240" y="3291840"/>
            <a:ext cx="2011680" cy="1463040"/>
          </a:xfrm>
          <a:prstGeom prst="ellipse">
            <a:avLst/>
          </a:prstGeom>
          <a:solidFill>
            <a:srgbClr val="BEC9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Partner</a:t>
            </a:r>
          </a:p>
        </p:txBody>
      </p:sp>
      <p:cxnSp>
        <p:nvCxnSpPr>
          <p:cNvPr id="10" name="Connector 9"/>
          <p:cNvCxnSpPr/>
          <p:nvPr/>
        </p:nvCxnSpPr>
        <p:spPr>
          <a:xfrm flipH="1" flipV="1">
            <a:off x="1143000" y="1892807"/>
            <a:ext cx="822960" cy="594361"/>
          </a:xfrm>
          <a:prstGeom prst="line">
            <a:avLst/>
          </a:prstGeom>
          <a:ln w="254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1965960" y="1892807"/>
            <a:ext cx="822960" cy="594361"/>
          </a:xfrm>
          <a:prstGeom prst="line">
            <a:avLst/>
          </a:prstGeom>
          <a:ln w="254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822960" y="1810512"/>
            <a:ext cx="1005840" cy="320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75887" y="2880360"/>
            <a:ext cx="45720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C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2011680"/>
            <a:ext cx="5532120" cy="3154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Inspect AlphaFold confidence and residue mapping.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Check the assembled complex, not only a monomer.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Ask whether linker and tag can extend without obvious clashes.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4400" y="4800600"/>
            <a:ext cx="4297680" cy="3657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400" b="0">
                <a:solidFill>
                  <a:srgbClr val="627078"/>
                </a:solidFill>
                <a:latin typeface="Arial"/>
              </a:defRPr>
            </a:pPr>
            <a:r>
              <a:t>Conceptual geometry—not a measured structure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An exposed end is a candidate; it is not proof that the fusion will function.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One insertion may leave an expressed isoform untagged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240280"/>
            <a:ext cx="1828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Isoform A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0" y="2468880"/>
            <a:ext cx="5806440" cy="0"/>
          </a:xfrm>
          <a:prstGeom prst="line">
            <a:avLst/>
          </a:prstGeom>
          <a:ln w="25400">
            <a:solidFill>
              <a:srgbClr val="222C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2743200" y="224028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572000" y="224028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0" y="224028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A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641080" y="2240280"/>
            <a:ext cx="11430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FFFFFF"/>
                </a:solidFill>
                <a:latin typeface="Arial"/>
              </a:defRPr>
            </a:pPr>
            <a:r>
              <a:t>Tag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" y="3337560"/>
            <a:ext cx="18288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Isoform B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2743200" y="3566160"/>
            <a:ext cx="7269480" cy="0"/>
          </a:xfrm>
          <a:prstGeom prst="line">
            <a:avLst/>
          </a:prstGeom>
          <a:ln w="25400">
            <a:solidFill>
              <a:srgbClr val="222C33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ectangle 15"/>
          <p:cNvSpPr/>
          <p:nvPr/>
        </p:nvSpPr>
        <p:spPr>
          <a:xfrm>
            <a:off x="2743200" y="333756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0" y="333756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778240" y="3337560"/>
            <a:ext cx="1234440" cy="5029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1800">
                <a:solidFill>
                  <a:srgbClr val="222C33"/>
                </a:solidFill>
                <a:latin typeface="Arial"/>
              </a:defRPr>
            </a:pPr>
            <a:r>
              <a:t>B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43200" y="4434840"/>
            <a:ext cx="8412480" cy="8686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Use transcript evidence from the relevant cells.</a:t>
            </a:r>
          </a:p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Report the expressed isoforms the design would miss.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“Canonical isoform” does not mean “the only isoform that matters”.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Choose a guide for the insertion—not for a score alone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18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Sequence checks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Correct assembly and strand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PAM and cut position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Off-target search and variants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Biological checks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Covers the intended isoforms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Cuts near the chosen insertion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Compatible with donor design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Handover: insertion coordinates + transcript coverage + ranked, checked guides.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The donor must encode a coherent final allele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19</a:t>
            </a:r>
          </a:p>
        </p:txBody>
      </p:sp>
      <p:sp>
        <p:nvSpPr>
          <p:cNvPr id="8" name="Rectangle 7"/>
          <p:cNvSpPr/>
          <p:nvPr/>
        </p:nvSpPr>
        <p:spPr>
          <a:xfrm>
            <a:off x="1371600" y="2286000"/>
            <a:ext cx="2103120" cy="7315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Left arm</a:t>
            </a:r>
          </a:p>
        </p:txBody>
      </p:sp>
      <p:sp>
        <p:nvSpPr>
          <p:cNvPr id="9" name="Rectangle 8"/>
          <p:cNvSpPr/>
          <p:nvPr/>
        </p:nvSpPr>
        <p:spPr>
          <a:xfrm>
            <a:off x="3547872" y="2286000"/>
            <a:ext cx="1234440" cy="73152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Linker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855464" y="2286000"/>
            <a:ext cx="2011680" cy="7315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FFFFFF"/>
                </a:solidFill>
                <a:latin typeface="Arial"/>
              </a:defRPr>
            </a:pPr>
            <a:r>
              <a:t>Tag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940296" y="2286000"/>
            <a:ext cx="1005840" cy="73152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Stop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019288" y="2286000"/>
            <a:ext cx="2103120" cy="731520"/>
          </a:xfrm>
          <a:prstGeom prst="rect">
            <a:avLst/>
          </a:prstGeom>
          <a:solidFill>
            <a:srgbClr val="D7DED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Right arm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3493008"/>
            <a:ext cx="521208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Preserve the intended reading frame.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Handle start/stop and splice context.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Check the full edited allele.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493008"/>
            <a:ext cx="493776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Prevent re-cutting where needed.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Choose a feasible assembly.</a:t>
            </a:r>
          </a:p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Verify reagent compatibility.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The test is the finished allele: reconstruct it and translate it.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EXPERIMENTAL VALIDATION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correct sequence is only the first validation step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20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3435095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DNA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Both junctions and insert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Alleles / copy number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Unexpected integrations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76928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76928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Protein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6928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Expected fusion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Function before induction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Depletion time course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9496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9496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Phenotype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9496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Vehicle control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Parental + trigger control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Rescue where feasible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computationally acceptable design is not yet an experimentally validated one.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DESIGN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This lab does this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74519"/>
            <a:ext cx="1060704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66B"/>
                </a:solidFill>
                <a:latin typeface="Arial"/>
              </a:defRPr>
            </a:pPr>
            <a:r>
              <a:t>Cyclin A and cyclin B — endogenous degron tagging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514600"/>
            <a:ext cx="1060704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700" b="0">
                <a:solidFill>
                  <a:srgbClr val="627078"/>
                </a:solidFill>
                <a:latin typeface="Arial"/>
              </a:defRPr>
            </a:pPr>
            <a:r>
              <a:t>Hegarat et al., EMBO J 2020 — PMID 32350921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94360" y="3154680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TextBox 10"/>
          <p:cNvSpPr txBox="1"/>
          <p:nvPr/>
        </p:nvSpPr>
        <p:spPr>
          <a:xfrm>
            <a:off x="594360" y="3355848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Why a degron at all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4087368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Essential regulators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Needed them gone in minutes, not days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Timing was the experiment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6268212" y="3154680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/>
          <p:cNvSpPr txBox="1"/>
          <p:nvPr/>
        </p:nvSpPr>
        <p:spPr>
          <a:xfrm>
            <a:off x="6268212" y="3355848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The same six decisions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268212" y="4087368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Which end, and was it free?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Which isoforms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Guide, donor, frame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Then: does the tagged protein still work?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Every one of the six decisions was made here, by hand, by people in this room.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What turns a language model into an agent?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19656"/>
            <a:ext cx="10607040" cy="4114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35666B"/>
                </a:solidFill>
                <a:latin typeface="Arial"/>
              </a:defRPr>
            </a:pPr>
            <a:r>
              <a:t>Language model + tool access + a decision loop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2331720"/>
            <a:ext cx="3154680" cy="82296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Choose action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80560" y="2331720"/>
            <a:ext cx="3154680" cy="82296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Execute tool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0" y="2331720"/>
            <a:ext cx="3154680" cy="822960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37160" rIns="137160"/>
          <a:lstStyle/>
          <a:p>
            <a:pPr>
              <a:defRPr sz="2100">
                <a:solidFill>
                  <a:srgbClr val="222C33"/>
                </a:solidFill>
                <a:latin typeface="Arial"/>
              </a:defRPr>
            </a:pPr>
            <a:r>
              <a:t>Inspect result</a:t>
            </a:r>
          </a:p>
        </p:txBody>
      </p:sp>
      <p:sp>
        <p:nvSpPr>
          <p:cNvPr id="12" name="Right Arrow 11"/>
          <p:cNvSpPr/>
          <p:nvPr/>
        </p:nvSpPr>
        <p:spPr>
          <a:xfrm>
            <a:off x="3977639" y="2633472"/>
            <a:ext cx="411480" cy="228600"/>
          </a:xfrm>
          <a:prstGeom prst="rightArrow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ight Arrow 12"/>
          <p:cNvSpPr/>
          <p:nvPr/>
        </p:nvSpPr>
        <p:spPr>
          <a:xfrm>
            <a:off x="7726679" y="2633472"/>
            <a:ext cx="411480" cy="228600"/>
          </a:xfrm>
          <a:prstGeom prst="rightArrow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4" name="Connector 13"/>
          <p:cNvCxnSpPr/>
          <p:nvPr/>
        </p:nvCxnSpPr>
        <p:spPr>
          <a:xfrm>
            <a:off x="9784080" y="3310128"/>
            <a:ext cx="0" cy="713232"/>
          </a:xfrm>
          <a:prstGeom prst="line">
            <a:avLst/>
          </a:prstGeom>
          <a:ln w="254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2286000" y="4023360"/>
            <a:ext cx="7498080" cy="0"/>
          </a:xfrm>
          <a:prstGeom prst="line">
            <a:avLst/>
          </a:prstGeom>
          <a:ln w="254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2286000" y="3310128"/>
            <a:ext cx="0" cy="713232"/>
          </a:xfrm>
          <a:prstGeom prst="line">
            <a:avLst/>
          </a:prstGeom>
          <a:ln w="25400">
            <a:solidFill>
              <a:srgbClr val="35666B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4297680" y="4206240"/>
            <a:ext cx="502920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500" b="1">
                <a:solidFill>
                  <a:srgbClr val="35666B"/>
                </a:solidFill>
                <a:latin typeface="Arial"/>
              </a:defRPr>
            </a:pPr>
            <a:r>
              <a:t>Continue, revise or stop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The model proposes actions; the software executes them within defined permissions.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Easy retrieval does not remove the need for judgement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23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20574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1837943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Task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901952"/>
            <a:ext cx="406908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61488" y="2011680"/>
            <a:ext cx="3849624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Execution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720840" y="1901952"/>
            <a:ext cx="4873752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830568" y="2011680"/>
            <a:ext cx="4654296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Interpretation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205740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32888"/>
            <a:ext cx="18379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Literature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651760" y="2404872"/>
            <a:ext cx="406908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761488" y="2532888"/>
            <a:ext cx="384962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Retrieve papers or supplied evidence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720840" y="2404872"/>
            <a:ext cx="487375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830568" y="2532888"/>
            <a:ext cx="465429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Does this demonstrate successful tagging?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18104"/>
            <a:ext cx="205740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246120"/>
            <a:ext cx="18379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Structure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651760" y="3118104"/>
            <a:ext cx="406908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61488" y="3246120"/>
            <a:ext cx="384962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Read features and coordinates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720840" y="3118104"/>
            <a:ext cx="487375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830568" y="3246120"/>
            <a:ext cx="465429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Does this rule out a terminus?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831335"/>
            <a:ext cx="205740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59351"/>
            <a:ext cx="18379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Isoforms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651760" y="3831335"/>
            <a:ext cx="406908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761488" y="3959351"/>
            <a:ext cx="384962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Retrieve transcripts; score guides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720840" y="3831335"/>
            <a:ext cx="487375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6830568" y="3959351"/>
            <a:ext cx="465429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What escapes, and is the cut suitable?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544568"/>
            <a:ext cx="205740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672583"/>
            <a:ext cx="18379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Cloning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651760" y="4544568"/>
            <a:ext cx="406908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61488" y="4672583"/>
            <a:ext cx="3849624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Assemble and translate sequences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6720840" y="4544568"/>
            <a:ext cx="487375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6830568" y="4672583"/>
            <a:ext cx="465429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Is the complete design biologically sound?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We evaluate both: obtaining the right data and deciding what those data justify.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AI AGENTS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An agent may need to change its plan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23774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Search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91840" y="1920240"/>
            <a:ext cx="7955279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An abstract reports a tagged protein.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06624"/>
            <a:ext cx="23774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Inspect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1840" y="2706624"/>
            <a:ext cx="7955279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It does not identify the insertion terminus.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93008"/>
            <a:ext cx="23774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Retrieve again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91840" y="3493008"/>
            <a:ext cx="7955279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Fetch full text and supplementary methods.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79392"/>
            <a:ext cx="237744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Decide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91840" y="4279392"/>
            <a:ext cx="7955279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0">
                <a:solidFill>
                  <a:srgbClr val="222C33"/>
                </a:solidFill>
                <a:latin typeface="Arial"/>
              </a:defRPr>
            </a:pPr>
            <a:r>
              <a:t>Record the terminus—or state that it remains unknown.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defensible answer may be “insufficient evidence”, with a record of what was checked.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Could an agent do any of this?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25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Where you might expect it to do well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Reading a lot of papers quickly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Finding the annotation you missed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Assembling a sequence without slips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Never getting bored on item 180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6268212" y="1947672"/>
            <a:ext cx="5326380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6268212" y="2148840"/>
            <a:ext cx="5326379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Where you might not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268212" y="2880360"/>
            <a:ext cx="5326379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Deciding what counts as evidence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"Tagged" versus "worked"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Knowing when the record is wrong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Saying "I do not know"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Both columns are guesses. The project replaces them with measurements.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THE QUESTION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How would you know if it was any good?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It gives you an answer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20240"/>
            <a:ext cx="6400800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Fluent, confident, well formatted.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724912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Is it right?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724912"/>
            <a:ext cx="6400800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Nothing in the answer tells you.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29584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So you need a better answer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529584"/>
            <a:ext cx="6400800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One you trust more. Someone has to make it.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34256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Made how?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334256"/>
            <a:ext cx="6400800" cy="60350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Carefully, from the evidence — and without the model.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measuring stick made with the thing it measures is not a measurement.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Three answers to the same question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27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3435095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You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Working as you normally would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From the evidence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No AI, until week 10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76928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76928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A bare agent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6928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Its own knowledge and a shell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No route to our databases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No instructions about the problem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9496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9496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An equipped agent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9496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 same model, same loop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Plus the tools we build for this job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 harness under test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Only the harness changes between the two agents. That difference is the result.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You answer first. Then the agent is asked.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You build the answers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01952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Weeks 4–10, by hand, with the evidence for each one.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Your answers lock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88336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Dated and handed over at your week 7 and week 10 talks.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Then the agent is asked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474720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The same questions, the same information, nothing extra.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We score the difference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261104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Repeated runs, scored against what you wrote.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Revise an answer after seeing the model’s and you have measured nothing.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EVALUATION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Score correctness—not similarity of wording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29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22860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2066543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Question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2880360" y="1901952"/>
            <a:ext cx="438912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990088" y="2011680"/>
            <a:ext cx="4169663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Example criterion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69479" y="1901952"/>
            <a:ext cx="4325112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379207" y="2011680"/>
            <a:ext cx="4105656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Evidence to inspect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228600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32888"/>
            <a:ext cx="20665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Precedent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2880360" y="2404872"/>
            <a:ext cx="438912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990088" y="2532888"/>
            <a:ext cx="416966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Endogenous tagging is correctly distinguished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7269479" y="2404872"/>
            <a:ext cx="432511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79207" y="2532888"/>
            <a:ext cx="410565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Quoted source passage and construct context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18104"/>
            <a:ext cx="228600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246120"/>
            <a:ext cx="20665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Modifications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880360" y="3118104"/>
            <a:ext cx="438912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990088" y="3246120"/>
            <a:ext cx="416966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Terminal constraint is mapped correctly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7269479" y="3118104"/>
            <a:ext cx="432511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379207" y="3246120"/>
            <a:ext cx="410565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Feature, residue/isoform mapping, rationale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831335"/>
            <a:ext cx="228600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3959351"/>
            <a:ext cx="20665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Isoforms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880360" y="3831335"/>
            <a:ext cx="4389120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990088" y="3959351"/>
            <a:ext cx="416966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Coverage and guide coordinates are correct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7269479" y="3831335"/>
            <a:ext cx="4325112" cy="7132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79207" y="3959351"/>
            <a:ext cx="410565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Transcript IDs, sequence, tool output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544568"/>
            <a:ext cx="228600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672583"/>
            <a:ext cx="206654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Donor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880360" y="4544568"/>
            <a:ext cx="4389120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990088" y="4672583"/>
            <a:ext cx="4169663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Edited allele is in frame and compatible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7269479" y="4544568"/>
            <a:ext cx="4325112" cy="713232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379207" y="4672583"/>
            <a:ext cx="4105656" cy="5760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800" b="0">
                <a:solidFill>
                  <a:srgbClr val="222C33"/>
                </a:solidFill>
                <a:latin typeface="Arial"/>
              </a:defRPr>
            </a:pPr>
            <a:r>
              <a:t>Reconstructed sequence and translation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 different guide or donor can be equally valid. Unsupported confidence cannot.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Eleven weeks, three presentations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30</a:t>
            </a:r>
          </a:p>
        </p:txBody>
      </p:sp>
      <p:sp>
        <p:nvSpPr>
          <p:cNvPr id="8" name="Rectangle 7"/>
          <p:cNvSpPr/>
          <p:nvPr/>
        </p:nvSpPr>
        <p:spPr>
          <a:xfrm>
            <a:off x="594360" y="1901952"/>
            <a:ext cx="137160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04088" y="2011680"/>
            <a:ext cx="1152144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Week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65960" y="1901952"/>
            <a:ext cx="3017520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075688" y="2011680"/>
            <a:ext cx="2798063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983479" y="1901952"/>
            <a:ext cx="6611112" cy="502920"/>
          </a:xfrm>
          <a:prstGeom prst="rect">
            <a:avLst/>
          </a:prstGeom>
          <a:solidFill>
            <a:srgbClr val="3566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093207" y="2011680"/>
            <a:ext cx="6391656" cy="347472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1">
                <a:solidFill>
                  <a:srgbClr val="FFFFFF"/>
                </a:solidFill>
                <a:latin typeface="Arial"/>
              </a:defRPr>
            </a:pPr>
            <a:r>
              <a:t>You produce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94360" y="2404872"/>
            <a:ext cx="1371600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04088" y="2532888"/>
            <a:ext cx="1152144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1–4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1965960" y="2404872"/>
            <a:ext cx="3017520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2075688" y="2532888"/>
            <a:ext cx="2798063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Background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983479" y="2404872"/>
            <a:ext cx="6611112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093207" y="2532888"/>
            <a:ext cx="639165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 five-minute talk — the one below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154679"/>
            <a:ext cx="1371600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3282696"/>
            <a:ext cx="1152144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4–7</a:t>
            </a:r>
          </a:p>
        </p:txBody>
      </p:sp>
      <p:sp>
        <p:nvSpPr>
          <p:cNvPr id="22" name="Rectangle 21"/>
          <p:cNvSpPr/>
          <p:nvPr/>
        </p:nvSpPr>
        <p:spPr>
          <a:xfrm>
            <a:off x="1965960" y="3154679"/>
            <a:ext cx="3017520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075688" y="3282696"/>
            <a:ext cx="2798063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Literature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983479" y="3154679"/>
            <a:ext cx="6611112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93207" y="3282696"/>
            <a:ext cx="639165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Your protein: isoforms, modifications, precedent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3904487"/>
            <a:ext cx="1371600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04088" y="4032503"/>
            <a:ext cx="1152144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7–10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965960" y="3904487"/>
            <a:ext cx="3017520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2075688" y="4032503"/>
            <a:ext cx="2798063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Cloning design</a:t>
            </a:r>
          </a:p>
        </p:txBody>
      </p:sp>
      <p:sp>
        <p:nvSpPr>
          <p:cNvPr id="30" name="Rectangle 29"/>
          <p:cNvSpPr/>
          <p:nvPr/>
        </p:nvSpPr>
        <p:spPr>
          <a:xfrm>
            <a:off x="4983479" y="3904487"/>
            <a:ext cx="6611112" cy="74980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093207" y="4032503"/>
            <a:ext cx="639165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 guide and a knock-in donor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94360" y="4654296"/>
            <a:ext cx="1371600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04088" y="4782312"/>
            <a:ext cx="1152144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10 →</a:t>
            </a:r>
          </a:p>
        </p:txBody>
      </p:sp>
      <p:sp>
        <p:nvSpPr>
          <p:cNvPr id="34" name="Rectangle 33"/>
          <p:cNvSpPr/>
          <p:nvPr/>
        </p:nvSpPr>
        <p:spPr>
          <a:xfrm>
            <a:off x="1965960" y="4654296"/>
            <a:ext cx="3017520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075688" y="4782312"/>
            <a:ext cx="2798063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Analysis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983479" y="4654296"/>
            <a:ext cx="6611112" cy="749808"/>
          </a:xfrm>
          <a:prstGeom prst="rect">
            <a:avLst/>
          </a:prstGeom>
          <a:solidFill>
            <a:srgbClr val="F1F3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93207" y="4782312"/>
            <a:ext cx="6391656" cy="612647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0">
                <a:solidFill>
                  <a:srgbClr val="222C33"/>
                </a:solidFill>
                <a:latin typeface="Arial"/>
              </a:defRPr>
            </a:pPr>
            <a:r>
              <a:t>Scores, figures, thesis — over the vacation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Answers lock at each presentation. Only then do the models see the question.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You get Claude — in week 10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31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94360" y="1947672"/>
            <a:ext cx="3435095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extBox 8"/>
          <p:cNvSpPr txBox="1"/>
          <p:nvPr/>
        </p:nvSpPr>
        <p:spPr>
          <a:xfrm>
            <a:off x="594360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Week 3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You watch one run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Driven from the front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Transcript on screen — including what goes wrong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4376928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4376928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Weeks 3–10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76928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You work without it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This is the reference set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It has to be yours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8159496" y="1947672"/>
            <a:ext cx="3435096" cy="0"/>
          </a:xfrm>
          <a:prstGeom prst="line">
            <a:avLst/>
          </a:prstGeom>
          <a:ln w="254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8159496" y="2148840"/>
            <a:ext cx="3435095" cy="56692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Week 10 onwards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59496" y="2880360"/>
            <a:ext cx="3435095" cy="23317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Accounts issued, hands-on session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Yours for the analysis and write-up</a:t>
            </a:r>
          </a:p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And for your own experiments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Not a restriction on you. A condition on the measurement.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DISCUSSION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A short design exercise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20240"/>
            <a:ext cx="10652760" cy="2468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A paper reports an N-terminal fluorescent fusion from a plasmid.</a:t>
            </a:r>
          </a:p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UniProt records an N-terminal lipid modification.</a:t>
            </a:r>
          </a:p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Two expressed isoforms have different C-terminal coding exons.</a:t>
            </a:r>
          </a:p>
          <a:p>
            <a:pPr>
              <a:spcAft>
                <a:spcPts val="900"/>
              </a:spcAft>
              <a:defRPr sz="2400" b="0">
                <a:solidFill>
                  <a:srgbClr val="222C33"/>
                </a:solidFill>
                <a:latin typeface="Arial"/>
              </a:defRPr>
            </a:pPr>
            <a:r>
              <a:t>The top-ranked guide was scored against the reference genome only.</a:t>
            </a:r>
          </a:p>
        </p:txBody>
      </p:sp>
      <p:sp>
        <p:nvSpPr>
          <p:cNvPr id="9" name="Rectangle 8"/>
          <p:cNvSpPr/>
          <p:nvPr/>
        </p:nvSpPr>
        <p:spPr>
          <a:xfrm>
            <a:off x="731520" y="4599432"/>
            <a:ext cx="10698480" cy="94183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4727448"/>
            <a:ext cx="10241280" cy="8229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Would you accept this C-terminal degron design?</a:t>
            </a:r>
          </a:p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What evidence is missing?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Your first assignment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737360"/>
            <a:ext cx="10607040" cy="512064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400" b="1">
                <a:solidFill>
                  <a:srgbClr val="35666B"/>
                </a:solidFill>
                <a:latin typeface="Arial"/>
              </a:defRPr>
            </a:pPr>
            <a:r>
              <a:t>Due in week 4: about 1000 words with references, and five slides.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48716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63040" y="2487168"/>
            <a:ext cx="47548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22C33"/>
                </a:solidFill>
                <a:latin typeface="Arial"/>
              </a:defRPr>
            </a:pPr>
            <a:r>
              <a:t>What a degron tag 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0" y="2487168"/>
            <a:ext cx="49377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Why remove the protein, not the gene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21868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463040" y="3218688"/>
            <a:ext cx="47548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22C33"/>
                </a:solidFill>
                <a:latin typeface="Arial"/>
              </a:defRPr>
            </a:pPr>
            <a:r>
              <a:t>How the tag gets there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0" y="3218688"/>
            <a:ext cx="49377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Gene targeting: a cut and a template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395020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63040" y="3950208"/>
            <a:ext cx="47548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22C33"/>
                </a:solidFill>
                <a:latin typeface="Arial"/>
              </a:defRPr>
            </a:pPr>
            <a:r>
              <a:t>What agentic AI in biology 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400800" y="3950208"/>
            <a:ext cx="49377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The loop and the tools — and the claims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681728"/>
            <a:ext cx="45720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1">
                <a:solidFill>
                  <a:srgbClr val="35666B"/>
                </a:solidFill>
                <a:latin typeface="Arial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463040" y="4681728"/>
            <a:ext cx="4754880" cy="4572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222C33"/>
                </a:solidFill>
                <a:latin typeface="Arial"/>
              </a:defRPr>
            </a:pPr>
            <a:r>
              <a:t>Could an agent design a tag?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4681728"/>
            <a:ext cx="4937760" cy="5486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100" b="0">
                <a:solidFill>
                  <a:srgbClr val="222C33"/>
                </a:solidFill>
                <a:latin typeface="Arial"/>
              </a:defRPr>
            </a:pPr>
            <a:r>
              <a:t>And how would we know if it did it well?</a:t>
            </a:r>
          </a:p>
        </p:txBody>
      </p:sp>
      <p:sp>
        <p:nvSpPr>
          <p:cNvPr id="21" name="Rectangle 20"/>
          <p:cNvSpPr/>
          <p:nvPr/>
        </p:nvSpPr>
        <p:spPr>
          <a:xfrm>
            <a:off x="731520" y="5559552"/>
            <a:ext cx="10698480" cy="56692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32688" y="5669280"/>
            <a:ext cx="1033272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Number 4 is the one that is marked. It is also the only one you cannot look up.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YOUR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Eight papers, and a shared library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34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01952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Degron tags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937760" y="1901952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Nabet 2018  ·  Crncec &amp; Hochegger 2022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88336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Gene targeting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2688336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Doudna &amp; Charpentier 2014  ·  Choi 2023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474720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Agents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937760" y="3474720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Guo 2026  ·  Nair 2026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261104"/>
            <a:ext cx="3931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300" b="1">
                <a:solidFill>
                  <a:srgbClr val="35666B"/>
                </a:solidFill>
                <a:latin typeface="Arial"/>
              </a:defRPr>
            </a:pPr>
            <a:r>
              <a:t>Evaluating agents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4261104"/>
            <a:ext cx="6492240" cy="59436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200" b="0">
                <a:solidFill>
                  <a:srgbClr val="222C33"/>
                </a:solidFill>
                <a:latin typeface="Arial"/>
              </a:defRPr>
            </a:pPr>
            <a:r>
              <a:t>Kapoor 2024  ·  Gu 2024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31520" y="5138928"/>
            <a:ext cx="10698480" cy="566928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32688" y="5248656"/>
            <a:ext cx="10332720" cy="38404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rPr>
                <a:hlinkClick r:id="rId3"/>
              </a:rPr>
              <a:t>Shared Zotero group: zotero.org/groups/6702274 — filed by topic, add what you find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5504688"/>
            <a:ext cx="11000232" cy="576072"/>
          </a:xfrm>
          <a:prstGeom prst="rect">
            <a:avLst/>
          </a:prstGeom>
          <a:solidFill>
            <a:srgbClr val="E8EF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04672" y="5632704"/>
            <a:ext cx="10607040" cy="35661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900" b="1">
                <a:solidFill>
                  <a:srgbClr val="35666B"/>
                </a:solidFill>
                <a:latin typeface="Arial"/>
              </a:defRPr>
            </a:pPr>
            <a:r>
              <a:t>Eight read properly beats thirty skimmed. The reading list is on the handbook.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CLOSING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The outcome is a checked design—and a measured limit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965960"/>
            <a:ext cx="10515600" cy="1371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400" b="1">
                <a:solidFill>
                  <a:srgbClr val="35666B"/>
                </a:solidFill>
                <a:latin typeface="Arial"/>
              </a:defRPr>
            </a:pPr>
            <a:r>
              <a:t>Can an AI agent design a trustworthy</a:t>
            </a:r>
          </a:p>
          <a:p>
            <a:pPr>
              <a:spcAft>
                <a:spcPts val="900"/>
              </a:spcAft>
              <a:defRPr sz="3400" b="1">
                <a:solidFill>
                  <a:srgbClr val="35666B"/>
                </a:solidFill>
                <a:latin typeface="Arial"/>
              </a:defRPr>
            </a:pPr>
            <a:r>
              <a:t>degron-tagging experiment?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3749039"/>
            <a:ext cx="10241280" cy="146304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2700" b="0">
                <a:solidFill>
                  <a:srgbClr val="222C33"/>
                </a:solidFill>
                <a:latin typeface="Arial"/>
              </a:defRPr>
            </a:pPr>
            <a:r>
              <a:t>Check the evidence.</a:t>
            </a:r>
          </a:p>
          <a:p>
            <a:pPr>
              <a:spcAft>
                <a:spcPts val="900"/>
              </a:spcAft>
              <a:defRPr sz="2700" b="0">
                <a:solidFill>
                  <a:srgbClr val="222C33"/>
                </a:solidFill>
                <a:latin typeface="Arial"/>
              </a:defRPr>
            </a:pPr>
            <a:r>
              <a:t>Test the decisions.</a:t>
            </a:r>
          </a:p>
          <a:p>
            <a:pPr>
              <a:spcAft>
                <a:spcPts val="900"/>
              </a:spcAft>
              <a:defRPr sz="2700" b="0">
                <a:solidFill>
                  <a:srgbClr val="222C33"/>
                </a:solidFill>
                <a:latin typeface="Arial"/>
              </a:defRPr>
            </a:pPr>
            <a:r>
              <a:t>Identify where human review is still needed.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Degron systems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36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Yesbolatova et al. (2020). The auxin-inducible degron 2 technology provides sharp degradation control in yeast, mammalian cells, and mice.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3"/>
              </a:rPr>
              <a:t>doi:10.1038/s41467-020-19532-z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Nabet et al. (2018). The dTAG system for immediate and target-specific protein degradation.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4"/>
              </a:rPr>
              <a:t>doi:10.1038/s41589-018-0021-8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Chung et al. (2015). Tunable and reversible drug control of protein production via a self-excising degron.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5"/>
              </a:rPr>
              <a:t>doi:10.1038/nchembio.1869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Bond et al. (2021). Development of BromoTag: A “Bump-and-Hole”-PROTAC System to Induce Potent, Rapid, and Selective Degradation of Tagged Target Proteins.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6"/>
              </a:rPr>
              <a:t>doi:10.1021/acs.jmedchem.1c01532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Design evidence and resources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37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Bondeson et al. (2022). Systematic profiling of conditional degron tag technologies for target validation studies.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3"/>
              </a:rPr>
              <a:t>doi:10.1038/s41467-022-33246-4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Jinek et al. (2012). A programmable dual-RNA-guided DNA endonuclease in adaptive bacterial immunity.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4"/>
              </a:rPr>
              <a:t>doi:10.1126/science.1225829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Jumper et al. (2021). Highly accurate protein structure prediction with AlphaFold.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5"/>
              </a:rPr>
              <a:t>doi:10.1038/s41586-021-03819-2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UniProt Consortium (2023). UniProt: the Universal Protein Knowledgebase in 2023.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6"/>
              </a:rPr>
              <a:t>doi:10.1093/nar/gkac1052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Student reading list — the biology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38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Nabet et al. (2018). The dTAG system for immediate and target-specific protein degradation.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3"/>
              </a:rPr>
              <a:t>doi:10.1038/s41589-018-0021-8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Crncec &amp; Hochegger (2022). Degron Tagging Using mAID and SMASh Tags in RPE-1 Cells.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4"/>
              </a:rPr>
              <a:t>doi:10.1007/978-1-0716-1904-9_14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Doudna &amp; Charpentier (2014). The new frontier of genome engineering with CRISPR-Cas9.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5"/>
              </a:rPr>
              <a:t>doi:10.1126/science.1258096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Choi et al. (2023). Efficient tagging of endogenous proteins in human cell lines for structural studies by single-particle cryo-EM.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6"/>
              </a:rPr>
              <a:t>doi:10.1073/pnas.2302471120</a:t>
            </a:r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20040"/>
            <a:ext cx="1097280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1">
                <a:solidFill>
                  <a:srgbClr val="35666B"/>
                </a:solidFill>
                <a:latin typeface="Arial"/>
              </a:defRPr>
            </a:pPr>
            <a:r>
              <a:t>SELECTED REFERENCES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850392"/>
            <a:ext cx="11018520" cy="950976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3200" b="1">
                <a:solidFill>
                  <a:srgbClr val="222C33"/>
                </a:solidFill>
                <a:latin typeface="Arial"/>
              </a:defRPr>
            </a:pPr>
            <a:r>
              <a:t>Student reading list — agents and evaluation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94360" y="6345936"/>
            <a:ext cx="11000232" cy="0"/>
          </a:xfrm>
          <a:prstGeom prst="line">
            <a:avLst/>
          </a:prstGeom>
          <a:ln w="12700">
            <a:solidFill>
              <a:srgbClr val="D7DE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TextBox 4"/>
          <p:cNvSpPr txBox="1"/>
          <p:nvPr/>
        </p:nvSpPr>
        <p:spPr>
          <a:xfrm>
            <a:off x="594360" y="6473952"/>
            <a:ext cx="1828800" cy="18288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  <a:r>
              <a:t>FYP26  /  INTRODUCTION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14600" y="6446520"/>
            <a:ext cx="8321040" cy="292608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900" b="0">
                <a:solidFill>
                  <a:srgbClr val="627078"/>
                </a:solidFill>
                <a:latin typeface="Arial"/>
              </a:defRPr>
            </a:pPr>
          </a:p>
        </p:txBody>
      </p:sp>
      <p:sp>
        <p:nvSpPr>
          <p:cNvPr id="7" name="TextBox 6"/>
          <p:cNvSpPr txBox="1"/>
          <p:nvPr/>
        </p:nvSpPr>
        <p:spPr>
          <a:xfrm>
            <a:off x="11018520" y="6446520"/>
            <a:ext cx="548640" cy="22860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100" b="0">
                <a:solidFill>
                  <a:srgbClr val="627078"/>
                </a:solidFill>
                <a:latin typeface="Arial"/>
              </a:defRPr>
            </a:pPr>
            <a:r>
              <a:t>39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31520" y="1847088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Guo et al. (2026). Toward autonomous science with agentic artificial intelligence.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31520" y="2350008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3"/>
              </a:rPr>
              <a:t>doi:10.1016/j.cell.2026.08.052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31520" y="2679192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Nair et al. (2026). Agentic systems are adept at solving well-scoped, verifiable problems in computational biology. Preprint.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182112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4"/>
              </a:rPr>
              <a:t>doi:10.64898/2026.04.06.716850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" y="3511296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Kapoor et al. (2024). AI Agents That Matter. Preprint.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31520" y="4014215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5"/>
              </a:rPr>
              <a:t>doi:10.48550/arXiv.2407.01502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4343400"/>
            <a:ext cx="10789920" cy="5029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600" b="0">
                <a:solidFill>
                  <a:srgbClr val="222C33"/>
                </a:solidFill>
                <a:latin typeface="Arial"/>
              </a:defRPr>
            </a:pPr>
            <a:r>
              <a:t>Gu et al. (2024). BLADE: Benchmarking Language Model Agents for Data-Driven Science. Preprint.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846320"/>
            <a:ext cx="10789920" cy="274320"/>
          </a:xfrm>
          <a:prstGeom prst="rect">
            <a:avLst/>
          </a:prstGeom>
          <a:noFill/>
        </p:spPr>
        <p:txBody>
          <a:bodyPr wrap="square" lIns="18288" rIns="18288" tIns="0" bIns="0">
            <a:spAutoFit/>
          </a:bodyPr>
          <a:lstStyle/>
          <a:p>
            <a:pPr>
              <a:spcAft>
                <a:spcPts val="900"/>
              </a:spcAft>
              <a:defRPr sz="1300" b="0">
                <a:solidFill>
                  <a:srgbClr val="35666B"/>
                </a:solidFill>
                <a:latin typeface="Arial"/>
              </a:defRPr>
            </a:pPr>
            <a:r>
              <a:rPr>
                <a:hlinkClick r:id="rId6"/>
              </a:rPr>
              <a:t>doi:10.48550/arXiv.2408.09667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FYP26 — introduction (student copy, no speaker notes)</dc:title>
  <dc:subject>Week 1 introductory lecture; one project template, five students</dc:subject>
  <dc:creator>FYP26</dc:creator>
  <cp:keywords>degron, CRISPR, AI agents, evaluation, FYP26</cp:keywords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